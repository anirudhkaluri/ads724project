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4"/>
  </p:normalViewPr>
  <p:slideViewPr>
    <p:cSldViewPr snapToGrid="0">
      <p:cViewPr varScale="1">
        <p:scale>
          <a:sx n="161" d="100"/>
          <a:sy n="161" d="100"/>
        </p:scale>
        <p:origin x="240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4e72c2ee53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4e72c2ee53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41e97475d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41e97475d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e72c2ee53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e72c2ee53_1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1e97475d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1e97475d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“Progress update” starts from here. give it to me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1e97475dc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41e97475dc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e5e414b2e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e5e414b2e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e67b0b3f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e67b0b3f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e72c2ee53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e72c2ee53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4e67b0b3f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4e67b0b3f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e72c2ee53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e72c2ee53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e79ef642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4e79ef642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4e72c2ee53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4e72c2ee53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e72c2ee53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e72c2ee53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“Progress update” starts from here. give it to me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e72c2ee53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e72c2ee53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4e72c2ee53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4e72c2ee53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4e72c2ee5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4e72c2ee5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e72c2ee53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e72c2ee53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4e72c2ee5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4e72c2ee5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e72c2ee53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4e72c2ee53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4e72c2ee53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4e72c2ee53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“Progress update” starts from here. give it to me 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4e72c2ee53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4e72c2ee53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“Progress update” starts from here. give it to me 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41fe47fdd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41fe47fdd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422e398834_4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422e398834_4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457200" y="2266950"/>
            <a:ext cx="8229600" cy="2327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22313" y="1035563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57200" y="1476377"/>
            <a:ext cx="4038600" cy="3118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648200" y="1476377"/>
            <a:ext cx="4038600" cy="3118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3" y="650504"/>
            <a:ext cx="8229600" cy="80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2"/>
          </p:nvPr>
        </p:nvSpPr>
        <p:spPr>
          <a:xfrm>
            <a:off x="457203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 rot="5400000">
            <a:off x="3408164" y="-684014"/>
            <a:ext cx="232767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 rot="5400000">
            <a:off x="5463778" y="1371602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8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2266950"/>
            <a:ext cx="8229600" cy="2327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" y="0"/>
            <a:ext cx="9152194" cy="457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ctrTitle"/>
          </p:nvPr>
        </p:nvSpPr>
        <p:spPr>
          <a:xfrm>
            <a:off x="562025" y="1385902"/>
            <a:ext cx="78963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80">
                <a:solidFill>
                  <a:srgbClr val="000000"/>
                </a:solidFill>
              </a:rPr>
              <a:t>AGILE: Elastic Distributed Resource Scaling</a:t>
            </a:r>
            <a:endParaRPr sz="2280">
              <a:solidFill>
                <a:srgbClr val="000000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80">
                <a:solidFill>
                  <a:srgbClr val="000000"/>
                </a:solidFill>
              </a:rPr>
              <a:t>For Infrastructure-as-a-Service</a:t>
            </a:r>
            <a:endParaRPr sz="2280">
              <a:solidFill>
                <a:srgbClr val="000000"/>
              </a:solidFill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423450" y="2571758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entury Gothic"/>
                <a:ea typeface="Century Gothic"/>
                <a:cs typeface="Century Gothic"/>
                <a:sym typeface="Century Gothic"/>
              </a:rPr>
              <a:t>Anirudh Kaluri, Sagar Dama</a:t>
            </a:r>
            <a:endParaRPr sz="16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endParaRPr sz="16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49350" y="4220500"/>
            <a:ext cx="6593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CSC </a:t>
            </a:r>
            <a:r>
              <a:rPr lang="en-US" sz="1200">
                <a:latin typeface="Century Gothic"/>
                <a:ea typeface="Century Gothic"/>
                <a:cs typeface="Century Gothic"/>
                <a:sym typeface="Century Gothic"/>
              </a:rPr>
              <a:t>724</a:t>
            </a:r>
            <a:r>
              <a:rPr lang="en-US" sz="12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</a:t>
            </a:r>
            <a:r>
              <a:rPr lang="en-US" sz="1200">
                <a:latin typeface="Century Gothic"/>
                <a:ea typeface="Century Gothic"/>
                <a:cs typeface="Century Gothic"/>
                <a:sym typeface="Century Gothic"/>
              </a:rPr>
              <a:t>Advanced Distributed System</a:t>
            </a:r>
            <a:endParaRPr sz="12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Dr. </a:t>
            </a:r>
            <a:r>
              <a:rPr lang="en-US" sz="1200">
                <a:latin typeface="Century Gothic"/>
                <a:ea typeface="Century Gothic"/>
                <a:cs typeface="Century Gothic"/>
                <a:sym typeface="Century Gothic"/>
              </a:rPr>
              <a:t>Helen Gu</a:t>
            </a:r>
            <a:endParaRPr sz="1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200">
                <a:latin typeface="Century Gothic"/>
                <a:ea typeface="Century Gothic"/>
                <a:cs typeface="Century Gothic"/>
                <a:sym typeface="Century Gothic"/>
              </a:rPr>
              <a:t>April 23,2024</a:t>
            </a:r>
            <a:endParaRPr sz="1200" b="0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3413050" y="2265600"/>
            <a:ext cx="3822300" cy="61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INTRODUCTION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AGILE</a:t>
            </a:r>
            <a:endParaRPr sz="2400" dirty="0"/>
          </a:p>
        </p:txBody>
      </p:sp>
      <p:pic>
        <p:nvPicPr>
          <p:cNvPr id="96" name="Google Shape;9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050" y="1943775"/>
            <a:ext cx="4610100" cy="22383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211550" y="1531375"/>
            <a:ext cx="3997500" cy="33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arenR"/>
            </a:pPr>
            <a:r>
              <a:rPr lang="en-US" sz="1000" dirty="0">
                <a:solidFill>
                  <a:schemeClr val="dk1"/>
                </a:solidFill>
              </a:rPr>
              <a:t>Host:</a:t>
            </a:r>
            <a:endParaRPr sz="10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</a:rPr>
              <a:t>Runs Virtual machines (VMs) with applications.</a:t>
            </a:r>
            <a:endParaRPr sz="10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</a:rPr>
              <a:t>Managed by AGILE slave and Linux + KVM.</a:t>
            </a:r>
            <a:endParaRPr sz="1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arenR"/>
            </a:pPr>
            <a:r>
              <a:rPr lang="en-US" sz="1000" dirty="0">
                <a:solidFill>
                  <a:schemeClr val="dk1"/>
                </a:solidFill>
              </a:rPr>
              <a:t>AGILE Slave:</a:t>
            </a:r>
            <a:endParaRPr sz="1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</a:rPr>
              <a:t>Resource Monitoring: Continuously monitors VM resource </a:t>
            </a:r>
            <a:endParaRPr sz="10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</a:rPr>
              <a:t>usage (CPU, memory, etc.).</a:t>
            </a:r>
            <a:endParaRPr sz="10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</a:rPr>
              <a:t>VM Controller: Handles VM addition/removal and cloning.</a:t>
            </a:r>
            <a:endParaRPr sz="1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arenR"/>
            </a:pPr>
            <a:r>
              <a:rPr lang="en-US" sz="1000" dirty="0">
                <a:solidFill>
                  <a:schemeClr val="dk1"/>
                </a:solidFill>
              </a:rPr>
              <a:t>AGILE Master:</a:t>
            </a:r>
            <a:endParaRPr sz="10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</a:rPr>
              <a:t>Resource Demand Prediction: Uses wavelet transforms for </a:t>
            </a:r>
            <a:endParaRPr sz="10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</a:rPr>
              <a:t>medium-term predictions.</a:t>
            </a:r>
            <a:endParaRPr sz="10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</a:rPr>
              <a:t>Resource Pressure Modeling: Maps resource pressure to SLO violation rates.</a:t>
            </a:r>
            <a:endParaRPr sz="10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dk1"/>
                </a:solidFill>
              </a:rPr>
              <a:t>Server Pool Scaling Manager: Manages server pool scaling </a:t>
            </a:r>
            <a:endParaRPr sz="1000" dirty="0">
              <a:solidFill>
                <a:schemeClr val="dk1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</a:rPr>
              <a:t>based on predictions.</a:t>
            </a:r>
            <a:endParaRPr sz="1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1542554" y="2265600"/>
            <a:ext cx="7291346" cy="61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/>
              <a:t>OUR WORKFLOW, DESIGN AND DEPLOYMENT</a:t>
            </a:r>
            <a:endParaRPr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168150" y="541602"/>
            <a:ext cx="8229600" cy="61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Workflow</a:t>
            </a:r>
            <a:endParaRPr sz="2100"/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200" y="1187727"/>
            <a:ext cx="6293225" cy="3684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107100" y="341502"/>
            <a:ext cx="8229600" cy="61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Our System Design</a:t>
            </a:r>
            <a:endParaRPr sz="2100"/>
          </a:p>
        </p:txBody>
      </p:sp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5378" y="994550"/>
            <a:ext cx="6004676" cy="391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3499" y="3677774"/>
            <a:ext cx="1336800" cy="128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168150" y="541602"/>
            <a:ext cx="8229600" cy="61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A closer look into our EC2</a:t>
            </a:r>
            <a:endParaRPr sz="2100"/>
          </a:p>
        </p:txBody>
      </p:sp>
      <p:pic>
        <p:nvPicPr>
          <p:cNvPr id="121" name="Google Shape;1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3975" y="1153902"/>
            <a:ext cx="5088532" cy="3684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>
            <a:spLocks noGrp="1"/>
          </p:cNvSpPr>
          <p:nvPr>
            <p:ph type="body" idx="1"/>
          </p:nvPr>
        </p:nvSpPr>
        <p:spPr>
          <a:xfrm>
            <a:off x="432625" y="1459375"/>
            <a:ext cx="3261600" cy="111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Type: M6I.xLarge, 4vCPUs, 16GB Memory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LLM: Smollm-135m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Web Application: Django Service, Gunicorn workers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431100" y="2265600"/>
            <a:ext cx="3822300" cy="61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EXPERIMENT</a:t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>
            <a:spLocks noGrp="1"/>
          </p:cNvSpPr>
          <p:nvPr>
            <p:ph type="body" idx="1"/>
          </p:nvPr>
        </p:nvSpPr>
        <p:spPr>
          <a:xfrm>
            <a:off x="44475" y="1288225"/>
            <a:ext cx="2916000" cy="1096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/>
              <a:t>Locust to generate the Traffic</a:t>
            </a:r>
            <a:endParaRPr sz="1000"/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/>
              <a:t>Custom Phase wise Rules</a:t>
            </a:r>
            <a:endParaRPr sz="1000"/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/>
              <a:t>System Meta-Data</a:t>
            </a:r>
            <a:endParaRPr sz="1000"/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/>
              <a:t>7 LLM pods</a:t>
            </a:r>
            <a:endParaRPr sz="1000"/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/>
              <a:t>1 Web Server</a:t>
            </a:r>
            <a:endParaRPr sz="1000"/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-US" sz="1000"/>
              <a:t>Simulation period of 3 hrs</a:t>
            </a:r>
            <a:endParaRPr/>
          </a:p>
        </p:txBody>
      </p:sp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9200" y="658250"/>
            <a:ext cx="3584926" cy="195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175" y="2848850"/>
            <a:ext cx="4391576" cy="180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>
            <a:spLocks noGrp="1"/>
          </p:cNvSpPr>
          <p:nvPr>
            <p:ph type="title"/>
          </p:nvPr>
        </p:nvSpPr>
        <p:spPr>
          <a:xfrm>
            <a:off x="383100" y="578675"/>
            <a:ext cx="3822300" cy="61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Artificial Traffic Generation</a:t>
            </a:r>
            <a:endParaRPr sz="2100"/>
          </a:p>
        </p:txBody>
      </p:sp>
      <p:sp>
        <p:nvSpPr>
          <p:cNvPr id="136" name="Google Shape;136;p21"/>
          <p:cNvSpPr txBox="1"/>
          <p:nvPr/>
        </p:nvSpPr>
        <p:spPr>
          <a:xfrm>
            <a:off x="5194025" y="2961700"/>
            <a:ext cx="3542700" cy="17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arenR"/>
            </a:pPr>
            <a:r>
              <a:rPr lang="en-US" sz="1000">
                <a:solidFill>
                  <a:schemeClr val="dk1"/>
                </a:solidFill>
              </a:rPr>
              <a:t>Multiple phases spread across 3 hrs with each phase lasting over 3 mins</a:t>
            </a:r>
            <a:endParaRPr sz="1000">
              <a:solidFill>
                <a:schemeClr val="dk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arenR"/>
            </a:pPr>
            <a:r>
              <a:rPr lang="en-US" sz="1000">
                <a:solidFill>
                  <a:schemeClr val="dk1"/>
                </a:solidFill>
              </a:rPr>
              <a:t>Each Phase has 3 parameters.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             a) duration - 3 mins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             b) users: no of users which will be accessing the   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                 resource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             c) spawn rate: rate at which the users are spawned 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                 until they reach to the desired users count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                              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Future CPU Prediction</a:t>
            </a:r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1"/>
          </p:nvPr>
        </p:nvSpPr>
        <p:spPr>
          <a:xfrm>
            <a:off x="457200" y="1606350"/>
            <a:ext cx="5302200" cy="2988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2100" algn="l" rtl="0">
              <a:spcBef>
                <a:spcPts val="360"/>
              </a:spcBef>
              <a:spcAft>
                <a:spcPts val="0"/>
              </a:spcAft>
              <a:buSzPts val="1000"/>
              <a:buAutoNum type="arabicParenR"/>
            </a:pPr>
            <a:r>
              <a:rPr lang="en-US" sz="1000"/>
              <a:t>Models Chosen: LSTM, BiLSTM</a:t>
            </a:r>
            <a:endParaRPr sz="1000"/>
          </a:p>
          <a:p>
            <a:pPr marL="457200" lvl="0" indent="-292100" algn="l" rtl="0">
              <a:spcBef>
                <a:spcPts val="360"/>
              </a:spcBef>
              <a:spcAft>
                <a:spcPts val="0"/>
              </a:spcAft>
              <a:buSzPts val="1000"/>
              <a:buAutoNum type="arabicParenR"/>
            </a:pPr>
            <a:r>
              <a:rPr lang="en-US" sz="1000"/>
              <a:t>Metrics used to test and validate: RMSE</a:t>
            </a:r>
            <a:endParaRPr sz="1000"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AutoNum type="arabicParenR"/>
            </a:pPr>
            <a:r>
              <a:rPr lang="en-US" sz="1000"/>
              <a:t>Hyperparameters</a:t>
            </a:r>
            <a:endParaRPr sz="1000"/>
          </a:p>
          <a:p>
            <a:pPr marL="914400" lvl="0" indent="-292100" algn="l" rtl="0">
              <a:spcBef>
                <a:spcPts val="0"/>
              </a:spcBef>
              <a:spcAft>
                <a:spcPts val="0"/>
              </a:spcAft>
              <a:buSzPts val="1000"/>
              <a:buAutoNum type="alphaLcParenR"/>
            </a:pPr>
            <a:r>
              <a:rPr lang="en-US" sz="1000"/>
              <a:t>Optimizer: Adam</a:t>
            </a:r>
            <a:endParaRPr sz="1000"/>
          </a:p>
          <a:p>
            <a:pPr marL="914400" lvl="0" indent="-292100" algn="l" rtl="0">
              <a:spcBef>
                <a:spcPts val="0"/>
              </a:spcBef>
              <a:spcAft>
                <a:spcPts val="0"/>
              </a:spcAft>
              <a:buSzPts val="1000"/>
              <a:buAutoNum type="alphaLcParenR"/>
            </a:pPr>
            <a:r>
              <a:rPr lang="en-US" sz="1000"/>
              <a:t>Learning Rate: 0.001</a:t>
            </a:r>
            <a:endParaRPr sz="1000"/>
          </a:p>
          <a:p>
            <a:pPr marL="914400" lvl="0" indent="-292100" algn="l" rtl="0">
              <a:spcBef>
                <a:spcPts val="0"/>
              </a:spcBef>
              <a:spcAft>
                <a:spcPts val="0"/>
              </a:spcAft>
              <a:buSzPts val="1000"/>
              <a:buAutoNum type="alphaLcParenR"/>
            </a:pPr>
            <a:r>
              <a:rPr lang="en-US" sz="1000"/>
              <a:t>Loss: MSE(Mean Squared Error)</a:t>
            </a:r>
            <a:endParaRPr sz="1000"/>
          </a:p>
          <a:p>
            <a:pPr marL="914400" lvl="0" indent="-292100" algn="l" rtl="0">
              <a:spcBef>
                <a:spcPts val="0"/>
              </a:spcBef>
              <a:spcAft>
                <a:spcPts val="0"/>
              </a:spcAft>
              <a:buSzPts val="1000"/>
              <a:buAutoNum type="alphaLcParenR"/>
            </a:pPr>
            <a:r>
              <a:rPr lang="en-US" sz="1000"/>
              <a:t>Epochs: 100</a:t>
            </a:r>
            <a:endParaRPr sz="1000"/>
          </a:p>
          <a:p>
            <a:pPr marL="914400" lvl="0" indent="-292100" algn="l" rtl="0">
              <a:spcBef>
                <a:spcPts val="0"/>
              </a:spcBef>
              <a:spcAft>
                <a:spcPts val="0"/>
              </a:spcAft>
              <a:buSzPts val="1000"/>
              <a:buAutoNum type="alphaLcParenR"/>
            </a:pPr>
            <a:r>
              <a:rPr lang="en-US" sz="1000"/>
              <a:t>Batch Size: 32</a:t>
            </a:r>
            <a:endParaRPr sz="1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00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900"/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1800" y="1628775"/>
            <a:ext cx="2775001" cy="274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427550" y="460360"/>
            <a:ext cx="8229600" cy="801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Resource Pressure Model</a:t>
            </a:r>
            <a:endParaRPr/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000" y="1176901"/>
            <a:ext cx="4601575" cy="308614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3"/>
          <p:cNvSpPr txBox="1">
            <a:spLocks noGrp="1"/>
          </p:cNvSpPr>
          <p:nvPr>
            <p:ph type="body" idx="1"/>
          </p:nvPr>
        </p:nvSpPr>
        <p:spPr>
          <a:xfrm>
            <a:off x="4496900" y="1324875"/>
            <a:ext cx="4565400" cy="29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000"/>
              <a:t>Predicted Resource Pressure= CPU Predicted / CPU Currently Allocated</a:t>
            </a:r>
            <a:endParaRPr sz="1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000"/>
              <a:t>Predicted Failure Rate = f(Predicted Resource Pressure)</a:t>
            </a:r>
            <a:endParaRPr sz="1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000"/>
              <a:t>If High_Resource_Pressure:</a:t>
            </a:r>
            <a:endParaRPr sz="1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00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000"/>
              <a:t>0.206= CPU Predicted/ Required CPU</a:t>
            </a:r>
            <a:endParaRPr sz="100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00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000"/>
              <a:t>Required CPU= CPU Predicted/  0.206</a:t>
            </a:r>
            <a:endParaRPr sz="100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00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000"/>
              <a:t>Scale</a:t>
            </a:r>
            <a:endParaRPr sz="100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4"/>
          <p:cNvSpPr txBox="1">
            <a:spLocks noGrp="1"/>
          </p:cNvSpPr>
          <p:nvPr>
            <p:ph type="title"/>
          </p:nvPr>
        </p:nvSpPr>
        <p:spPr>
          <a:xfrm>
            <a:off x="427550" y="460360"/>
            <a:ext cx="8229600" cy="801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Lead Time</a:t>
            </a:r>
            <a:r>
              <a:rPr lang="en-US"/>
              <a:t> </a:t>
            </a:r>
            <a:r>
              <a:rPr lang="en-US" sz="2100"/>
              <a:t>Prediction including Nodes</a:t>
            </a:r>
            <a:endParaRPr/>
          </a:p>
        </p:txBody>
      </p:sp>
      <p:pic>
        <p:nvPicPr>
          <p:cNvPr id="156" name="Google Shape;15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850" y="1377850"/>
            <a:ext cx="3749249" cy="293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8550" y="1468925"/>
            <a:ext cx="3749249" cy="27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>
            <a:spLocks noGrp="1"/>
          </p:cNvSpPr>
          <p:nvPr>
            <p:ph type="title"/>
          </p:nvPr>
        </p:nvSpPr>
        <p:spPr>
          <a:xfrm>
            <a:off x="457200" y="460360"/>
            <a:ext cx="8229600" cy="801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Lead Time</a:t>
            </a:r>
            <a:r>
              <a:rPr lang="en-US"/>
              <a:t> </a:t>
            </a:r>
            <a:r>
              <a:rPr lang="en-US" sz="2100"/>
              <a:t>Prediction using just Pods (Constant 8 Nodes)</a:t>
            </a:r>
            <a:endParaRPr/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0125" y="1414060"/>
            <a:ext cx="5767063" cy="3577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>
            <a:spLocks noGrp="1"/>
          </p:cNvSpPr>
          <p:nvPr>
            <p:ph type="title"/>
          </p:nvPr>
        </p:nvSpPr>
        <p:spPr>
          <a:xfrm>
            <a:off x="3777500" y="2265600"/>
            <a:ext cx="1480500" cy="61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RESULTS</a:t>
            </a:r>
            <a:endParaRPr sz="2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050" y="1886575"/>
            <a:ext cx="4227265" cy="236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2800" y="1886575"/>
            <a:ext cx="4139576" cy="231672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Prediction Performance on Training Data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Prediction Performance on Training Data</a:t>
            </a:r>
            <a:endParaRPr/>
          </a:p>
        </p:txBody>
      </p:sp>
      <p:pic>
        <p:nvPicPr>
          <p:cNvPr id="181" name="Google Shape;18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1575" y="2020825"/>
            <a:ext cx="24765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>
            <a:spLocks noGrp="1"/>
          </p:cNvSpPr>
          <p:nvPr>
            <p:ph type="title"/>
          </p:nvPr>
        </p:nvSpPr>
        <p:spPr>
          <a:xfrm>
            <a:off x="-68100" y="675075"/>
            <a:ext cx="8999700" cy="801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Prediction Performance with LSTM on Testing Data</a:t>
            </a:r>
            <a:endParaRPr sz="2700"/>
          </a:p>
        </p:txBody>
      </p:sp>
      <p:pic>
        <p:nvPicPr>
          <p:cNvPr id="187" name="Google Shape;18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525" y="1569350"/>
            <a:ext cx="3346975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9"/>
          <p:cNvSpPr txBox="1"/>
          <p:nvPr/>
        </p:nvSpPr>
        <p:spPr>
          <a:xfrm>
            <a:off x="982813" y="4322625"/>
            <a:ext cx="28764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6-Input Window 3 Future steps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89" name="Google Shape;18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1750" y="1545538"/>
            <a:ext cx="4275050" cy="264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9"/>
          <p:cNvSpPr txBox="1"/>
          <p:nvPr/>
        </p:nvSpPr>
        <p:spPr>
          <a:xfrm>
            <a:off x="5531500" y="4262675"/>
            <a:ext cx="2824500" cy="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20-Input Window 10 Future steps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/>
        </p:nvSpPr>
        <p:spPr>
          <a:xfrm>
            <a:off x="970125" y="4418975"/>
            <a:ext cx="2876400" cy="3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6-Input Window 3 Future Steps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5398075" y="4411875"/>
            <a:ext cx="3208800" cy="6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20-Input Window 10 Future Steps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97" name="Google Shape;19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075" y="1602700"/>
            <a:ext cx="4182950" cy="253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7025" y="1548100"/>
            <a:ext cx="444342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-68100" y="675075"/>
            <a:ext cx="8999700" cy="801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Prediction Performance with Bi LSTM on Testing Data</a:t>
            </a:r>
            <a:endParaRPr sz="2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5500" y="1027100"/>
            <a:ext cx="4572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>
            <a:spLocks noGrp="1"/>
          </p:cNvSpPr>
          <p:nvPr>
            <p:ph type="title"/>
          </p:nvPr>
        </p:nvSpPr>
        <p:spPr>
          <a:xfrm>
            <a:off x="457200" y="675085"/>
            <a:ext cx="8229600" cy="801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RMSE For Different Windows</a:t>
            </a:r>
            <a:endParaRPr sz="2100"/>
          </a:p>
        </p:txBody>
      </p:sp>
      <p:pic>
        <p:nvPicPr>
          <p:cNvPr id="210" name="Google Shape;21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75" y="1591700"/>
            <a:ext cx="4273650" cy="2699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7525" y="1725685"/>
            <a:ext cx="4413151" cy="24961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3"/>
          <p:cNvSpPr txBox="1">
            <a:spLocks noGrp="1"/>
          </p:cNvSpPr>
          <p:nvPr>
            <p:ph type="title"/>
          </p:nvPr>
        </p:nvSpPr>
        <p:spPr>
          <a:xfrm>
            <a:off x="331200" y="612875"/>
            <a:ext cx="2236500" cy="61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CHALLENGES</a:t>
            </a:r>
            <a:endParaRPr sz="2100"/>
          </a:p>
        </p:txBody>
      </p:sp>
      <p:sp>
        <p:nvSpPr>
          <p:cNvPr id="217" name="Google Shape;217;p33"/>
          <p:cNvSpPr txBox="1">
            <a:spLocks noGrp="1"/>
          </p:cNvSpPr>
          <p:nvPr>
            <p:ph type="body" idx="1"/>
          </p:nvPr>
        </p:nvSpPr>
        <p:spPr>
          <a:xfrm>
            <a:off x="432625" y="1459375"/>
            <a:ext cx="3810000" cy="1482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Prometheus going down when downscaling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Request Time Out Error</a:t>
            </a: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Lead Time Calculation</a:t>
            </a: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Load-Balancing amongst LLM Pods</a:t>
            </a: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Recreating traffic trends</a:t>
            </a: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/>
              <a:t>Autoscaling conflict</a:t>
            </a: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/>
          </a:p>
        </p:txBody>
      </p:sp>
      <p:pic>
        <p:nvPicPr>
          <p:cNvPr id="218" name="Google Shape;21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514" y="1225176"/>
            <a:ext cx="4059862" cy="19492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title"/>
          </p:nvPr>
        </p:nvSpPr>
        <p:spPr>
          <a:xfrm>
            <a:off x="168150" y="541602"/>
            <a:ext cx="8229600" cy="61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Takeaways</a:t>
            </a:r>
            <a:endParaRPr sz="2100"/>
          </a:p>
        </p:txBody>
      </p:sp>
      <p:sp>
        <p:nvSpPr>
          <p:cNvPr id="224" name="Google Shape;224;p34"/>
          <p:cNvSpPr txBox="1">
            <a:spLocks noGrp="1"/>
          </p:cNvSpPr>
          <p:nvPr>
            <p:ph type="body" idx="1"/>
          </p:nvPr>
        </p:nvSpPr>
        <p:spPr>
          <a:xfrm>
            <a:off x="432625" y="1459375"/>
            <a:ext cx="4576200" cy="111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Tackling real-world problems by planning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Building research experiment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Lot of learning: Kubernetes, AWS, Load Balancing, Autoscaling</a:t>
            </a:r>
            <a:endParaRPr sz="10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>
            <a:spLocks noGrp="1"/>
          </p:cNvSpPr>
          <p:nvPr>
            <p:ph type="title"/>
          </p:nvPr>
        </p:nvSpPr>
        <p:spPr>
          <a:xfrm>
            <a:off x="250500" y="2047060"/>
            <a:ext cx="8229600" cy="801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>
            <a:spLocks noGrp="1"/>
          </p:cNvSpPr>
          <p:nvPr>
            <p:ph type="title"/>
          </p:nvPr>
        </p:nvSpPr>
        <p:spPr>
          <a:xfrm>
            <a:off x="250500" y="2047060"/>
            <a:ext cx="8229600" cy="801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Q/A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CStateU-horizontal-left-logo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489</Words>
  <Application>Microsoft Macintosh PowerPoint</Application>
  <PresentationFormat>On-screen Show (16:9)</PresentationFormat>
  <Paragraphs>109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Century Gothic</vt:lpstr>
      <vt:lpstr>Calibri</vt:lpstr>
      <vt:lpstr>Arial</vt:lpstr>
      <vt:lpstr>NCStateU-horizontal-left-logo</vt:lpstr>
      <vt:lpstr>AGILE: Elastic Distributed Resource Scaling For Infrastructure-as-a-Service</vt:lpstr>
      <vt:lpstr>INTRODUCTION</vt:lpstr>
      <vt:lpstr>AGILE</vt:lpstr>
      <vt:lpstr>OUR WORKFLOW, DESIGN AND DEPLOYMENT</vt:lpstr>
      <vt:lpstr>Workflow</vt:lpstr>
      <vt:lpstr>Our System Design</vt:lpstr>
      <vt:lpstr>A closer look into our EC2</vt:lpstr>
      <vt:lpstr>EXPERIMENT</vt:lpstr>
      <vt:lpstr>Artificial Traffic Generation</vt:lpstr>
      <vt:lpstr>Future CPU Prediction</vt:lpstr>
      <vt:lpstr>Resource Pressure Model</vt:lpstr>
      <vt:lpstr>Lead Time Prediction including Nodes</vt:lpstr>
      <vt:lpstr>Lead Time Prediction using just Pods (Constant 8 Nodes)</vt:lpstr>
      <vt:lpstr>RESULTS</vt:lpstr>
      <vt:lpstr>Prediction Performance on Training Data</vt:lpstr>
      <vt:lpstr>Prediction Performance on Training Data</vt:lpstr>
      <vt:lpstr>Prediction Performance with LSTM on Testing Data</vt:lpstr>
      <vt:lpstr>Prediction Performance with Bi LSTM on Testing Data</vt:lpstr>
      <vt:lpstr>PowerPoint Presentation</vt:lpstr>
      <vt:lpstr>RMSE For Different Windows</vt:lpstr>
      <vt:lpstr>CHALLENGES</vt:lpstr>
      <vt:lpstr>Takeaways</vt:lpstr>
      <vt:lpstr>Thank you</vt:lpstr>
      <vt:lpstr>Q/A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Anirudh Kaluri</cp:lastModifiedBy>
  <cp:revision>2</cp:revision>
  <dcterms:modified xsi:type="dcterms:W3CDTF">2025-04-23T19:36:12Z</dcterms:modified>
</cp:coreProperties>
</file>